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baefed24ad4fa6" /><Relationship Type="http://schemas.openxmlformats.org/officeDocument/2006/relationships/extended-properties" Target="/docProps/app.xml" Id="Rabbeff50ea9e4b9f" /><Relationship Type="http://schemas.openxmlformats.org/officeDocument/2006/relationships/officeDocument" Target="/ppt/presentation.xml" Id="Rca7e05183eee4c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69e2f73d054c3a"/>
  </p:sldMasterIdLst>
  <p:notesMasterIdLst>
    <p:notesMasterId xmlns:r="http://schemas.openxmlformats.org/officeDocument/2006/relationships" r:id="Rf7259e1482c64d6e"/>
  </p:notesMasterIdLst>
  <p:sldIdLst>
    <p:sldId xmlns:r="http://schemas.openxmlformats.org/officeDocument/2006/relationships" id="256" r:id="Rcd9e32c0d3d644e9"/>
    <p:sldId xmlns:r="http://schemas.openxmlformats.org/officeDocument/2006/relationships" id="257" r:id="R780e37fbd96c4c51"/>
    <p:sldId xmlns:r="http://schemas.openxmlformats.org/officeDocument/2006/relationships" id="258" r:id="Red57553ba2c44981"/>
    <p:sldId xmlns:r="http://schemas.openxmlformats.org/officeDocument/2006/relationships" id="259" r:id="Rd61570e7ab2a4e14"/>
    <p:sldId xmlns:r="http://schemas.openxmlformats.org/officeDocument/2006/relationships" id="260" r:id="R249a7dabd5b145cb"/>
    <p:sldId xmlns:r="http://schemas.openxmlformats.org/officeDocument/2006/relationships" id="261" r:id="Re41bf032baf64da9"/>
    <p:sldId xmlns:r="http://schemas.openxmlformats.org/officeDocument/2006/relationships" id="262" r:id="R38593a1d86724aa6"/>
    <p:sldId xmlns:r="http://schemas.openxmlformats.org/officeDocument/2006/relationships" id="263" r:id="Rdfdde30eb21541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3f5a3836b04b4c" /><Relationship Type="http://schemas.openxmlformats.org/officeDocument/2006/relationships/slideMaster" Target="/ppt/slideMasters/slideMaster1.xml" Id="R0e69e2f73d054c3a" /><Relationship Type="http://schemas.openxmlformats.org/officeDocument/2006/relationships/notesMaster" Target="/ppt/notesMasters/notesMaster1.xml" Id="Rf7259e1482c64d6e" /><Relationship Type="http://schemas.openxmlformats.org/officeDocument/2006/relationships/presProps" Target="/ppt/presProps.xml" Id="R00c9cda30dc54afd" /><Relationship Type="http://schemas.openxmlformats.org/officeDocument/2006/relationships/tableStyles" Target="/ppt/tableStyles.xml" Id="R39ca8ffc11124bc5" /><Relationship Type="http://schemas.openxmlformats.org/officeDocument/2006/relationships/slide" Target="/ppt/slides/slide1.xml" Id="Rcd9e32c0d3d644e9" /><Relationship Type="http://schemas.openxmlformats.org/officeDocument/2006/relationships/slide" Target="/ppt/slides/slide2.xml" Id="R780e37fbd96c4c51" /><Relationship Type="http://schemas.openxmlformats.org/officeDocument/2006/relationships/slide" Target="/ppt/slides/slide3.xml" Id="Red57553ba2c44981" /><Relationship Type="http://schemas.openxmlformats.org/officeDocument/2006/relationships/slide" Target="/ppt/slides/slide4.xml" Id="Rd61570e7ab2a4e14" /><Relationship Type="http://schemas.openxmlformats.org/officeDocument/2006/relationships/slide" Target="/ppt/slides/slide5.xml" Id="R249a7dabd5b145cb" /><Relationship Type="http://schemas.openxmlformats.org/officeDocument/2006/relationships/slide" Target="/ppt/slides/slide6.xml" Id="Re41bf032baf64da9" /><Relationship Type="http://schemas.openxmlformats.org/officeDocument/2006/relationships/slide" Target="/ppt/slides/slide7.xml" Id="R38593a1d86724aa6" /><Relationship Type="http://schemas.openxmlformats.org/officeDocument/2006/relationships/slide" Target="/ppt/slides/slide8.xml" Id="Rdfdde30eb21541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d9fdb7c99f4d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2ca2c3eceb4589" /><Relationship Type="http://schemas.openxmlformats.org/officeDocument/2006/relationships/notesMaster" Target="/ppt/notesMasters/notesMaster1.xml" Id="Rd859016d00f74d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25bcc2180e44ae" /><Relationship Type="http://schemas.openxmlformats.org/officeDocument/2006/relationships/notesMaster" Target="/ppt/notesMasters/notesMaster1.xml" Id="Rf7de8c1132514c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1d2d05fe1c41fb" /><Relationship Type="http://schemas.openxmlformats.org/officeDocument/2006/relationships/notesMaster" Target="/ppt/notesMasters/notesMaster1.xml" Id="R61be933e46f94a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d84aa3e9754dc3" /><Relationship Type="http://schemas.openxmlformats.org/officeDocument/2006/relationships/notesMaster" Target="/ppt/notesMasters/notesMaster1.xml" Id="R23d7e709282a4e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330893e607435c" /><Relationship Type="http://schemas.openxmlformats.org/officeDocument/2006/relationships/notesMaster" Target="/ppt/notesMasters/notesMaster1.xml" Id="R2bbb69f45fd14d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0ac030be0446b2" /><Relationship Type="http://schemas.openxmlformats.org/officeDocument/2006/relationships/notesMaster" Target="/ppt/notesMasters/notesMaster1.xml" Id="R7815eda0598446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1edee2236b4789" /><Relationship Type="http://schemas.openxmlformats.org/officeDocument/2006/relationships/notesMaster" Target="/ppt/notesMasters/notesMaster1.xml" Id="R61fbe0a1876c41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60eea5eb6f4490" /><Relationship Type="http://schemas.openxmlformats.org/officeDocument/2006/relationships/notesMaster" Target="/ppt/notesMasters/notesMaster1.xml" Id="R3802b1566b6e47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0d1ecee034f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b633acfe324d6e" /><Relationship Type="http://schemas.openxmlformats.org/officeDocument/2006/relationships/slideLayout" Target="/ppt/slideLayouts/slideLayout1.xml" Id="R8c99902b2a8244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9902b2a8244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b36219af1493e" /><Relationship Type="http://schemas.openxmlformats.org/officeDocument/2006/relationships/notesSlide" Target="/ppt/notesSlides/notesSlide1.xml" Id="Rf62028548b7d48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0267b76e64658" /><Relationship Type="http://schemas.openxmlformats.org/officeDocument/2006/relationships/notesSlide" Target="/ppt/notesSlides/notesSlide2.xml" Id="R1897bb0e810240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0d5fb6cc242a3" /><Relationship Type="http://schemas.openxmlformats.org/officeDocument/2006/relationships/notesSlide" Target="/ppt/notesSlides/notesSlide3.xml" Id="R14b02527a3a54c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3092d40d7441b" /><Relationship Type="http://schemas.openxmlformats.org/officeDocument/2006/relationships/image" Target="/ppt/media/image.png" Id="R639de8ea93594a4c" /><Relationship Type="http://schemas.openxmlformats.org/officeDocument/2006/relationships/notesSlide" Target="/ppt/notesSlides/notesSlide4.xml" Id="Rc391c432ff8e45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a0e8a6a964252" /><Relationship Type="http://schemas.openxmlformats.org/officeDocument/2006/relationships/image" Target="/ppt/media/image2.png" Id="Rdfda43f407a845ea" /><Relationship Type="http://schemas.openxmlformats.org/officeDocument/2006/relationships/notesSlide" Target="/ppt/notesSlides/notesSlide5.xml" Id="Rc762a3b2fd744f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054ceda344ef5" /><Relationship Type="http://schemas.openxmlformats.org/officeDocument/2006/relationships/image" Target="/ppt/media/image3.png" Id="Raad502f9f5c7499d" /><Relationship Type="http://schemas.openxmlformats.org/officeDocument/2006/relationships/notesSlide" Target="/ppt/notesSlides/notesSlide6.xml" Id="Rd25a5b122b3b47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32eb3b51d4077" /><Relationship Type="http://schemas.openxmlformats.org/officeDocument/2006/relationships/notesSlide" Target="/ppt/notesSlides/notesSlide7.xml" Id="R3e801bdc59104c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c1d6dbdea43a6" /><Relationship Type="http://schemas.openxmlformats.org/officeDocument/2006/relationships/notesSlide" Target="/ppt/notesSlides/notesSlide8.xml" Id="Rf5c9918987f949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label">
            <a:extLst xmlns:a="http://schemas.openxmlformats.org/drawingml/2006/main">
              <a:ext uri="{FF2B5EF4-FFF2-40B4-BE49-F238E27FC236}">
                <a16:creationId xmlns:a16="http://schemas.microsoft.com/office/drawing/2014/main" id="{B908077B-0635-497A-90FF-601DBE67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35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BBQ AND CASE · MODULE 8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2C54782-6EE0-41E6-99F3-812BE774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Case development and quality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F232FE8C-4997-4226-9B1D-73FC2144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16A"/>
                </a:solidFill>
                <a:latin typeface="Arial"/>
                <a:ea typeface="Arial"/>
                <a:cs typeface="Arial"/>
              </a:rPr>
              <a:t>Interpret developments, control bending and verify case relationships without inventing geometry.</a:t>
            </a:r>
          </a:p>
        </p:txBody>
      </p:sp>
      <p:sp>
        <p:nvSpPr>
          <p:cNvPr id="4" name="cover-weeks">
            <a:extLst xmlns:a="http://schemas.openxmlformats.org/drawingml/2006/main">
              <a:ext uri="{FF2B5EF4-FFF2-40B4-BE49-F238E27FC236}">
                <a16:creationId xmlns:a16="http://schemas.microsoft.com/office/drawing/2014/main" id="{9DE1413D-504D-4C80-9B03-4AE8ADB9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Weeks 15–16</a:t>
            </a:r>
          </a:p>
        </p:txBody>
      </p:sp>
    </p:spTree>
    <p:extLst>
      <p:ext uri="{BB962C8B-B14F-4D97-AF65-F5344CB8AC3E}">
        <p14:creationId xmlns:p14="http://schemas.microsoft.com/office/powerpoint/2010/main" val="862251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9708081D-64D2-48CF-AD20-2A714F5B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824AF7-C187-4580-B890-4BDE78C0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AE00CCC-DDE8-47A6-9E87-D2BC4831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Think first. Discuss your reasoning, then check it against the module.</a:t>
            </a:r>
          </a:p>
        </p:txBody>
      </p:sp>
      <p:sp>
        <p:nvSpPr>
          <p:cNvPr id="4" name="retrieval-panel-1">
            <a:extLst xmlns:a="http://schemas.openxmlformats.org/drawingml/2006/main">
              <a:ext uri="{FF2B5EF4-FFF2-40B4-BE49-F238E27FC236}">
                <a16:creationId xmlns:a16="http://schemas.microsoft.com/office/drawing/2014/main" id="{745ADC4E-F769-4868-975D-30443BDD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92E633E5-3DC4-47B2-B59C-41CEC529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447AC2B8-C140-4308-9A9A-69397203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is the main purpose of a development?</a:t>
            </a:r>
          </a:p>
        </p:txBody>
      </p:sp>
      <p:sp>
        <p:nvSpPr>
          <p:cNvPr id="7" name="retrieval-panel-2">
            <a:extLst xmlns:a="http://schemas.openxmlformats.org/drawingml/2006/main">
              <a:ext uri="{FF2B5EF4-FFF2-40B4-BE49-F238E27FC236}">
                <a16:creationId xmlns:a16="http://schemas.microsoft.com/office/drawing/2014/main" id="{8B80E161-CA64-42AE-B236-42443FB0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9142DAD1-CA36-4A51-8863-A6CA0C5C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27F018B5-1FCD-41C1-A749-683B512B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must a development be read together with the teacher-issued case drawings?</a:t>
            </a:r>
          </a:p>
        </p:txBody>
      </p:sp>
      <p:sp>
        <p:nvSpPr>
          <p:cNvPr id="10" name="retrieval-panel-3">
            <a:extLst xmlns:a="http://schemas.openxmlformats.org/drawingml/2006/main">
              <a:ext uri="{FF2B5EF4-FFF2-40B4-BE49-F238E27FC236}">
                <a16:creationId xmlns:a16="http://schemas.microsoft.com/office/drawing/2014/main" id="{E2FD5945-65AB-4E1D-A2FA-F074A7DF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etrieval-number-3">
            <a:extLst xmlns:a="http://schemas.openxmlformats.org/drawingml/2006/main">
              <a:ext uri="{FF2B5EF4-FFF2-40B4-BE49-F238E27FC236}">
                <a16:creationId xmlns:a16="http://schemas.microsoft.com/office/drawing/2014/main" id="{3376C13A-2FFF-4A4F-8253-2C7903AC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trieval-question-3">
            <a:extLst xmlns:a="http://schemas.openxmlformats.org/drawingml/2006/main">
              <a:ext uri="{FF2B5EF4-FFF2-40B4-BE49-F238E27FC236}">
                <a16:creationId xmlns:a16="http://schemas.microsoft.com/office/drawing/2014/main" id="{0A199438-FEEC-402D-AB0D-EC1A7EAE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672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is the purpose of reference lines in a development?</a:t>
            </a:r>
          </a:p>
        </p:txBody>
      </p:sp>
      <p:sp>
        <p:nvSpPr>
          <p:cNvPr id="13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E1B828A7-CF6F-471B-BCAC-994F09AF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8</a:t>
            </a:r>
          </a:p>
        </p:txBody>
      </p:sp>
      <p:sp>
        <p:nvSpPr>
          <p:cNvPr id="14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F4A2A22A-B129-4748-AC6C-7F223636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53804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333B7CB0-9257-4563-AC2F-9CE2604D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9F990D-2157-472B-944F-05958E1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organise this module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1DD1F18-2347-4E9E-BF53-29CB11CC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Work through them in order, then complete the checks and written evidence.</a:t>
            </a:r>
          </a:p>
        </p:txBody>
      </p:sp>
      <p:sp>
        <p:nvSpPr>
          <p:cNvPr id="4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66B9AE4C-A99C-4E46-BA05-4215D440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oadmap-index-1">
            <a:extLst xmlns:a="http://schemas.openxmlformats.org/drawingml/2006/main">
              <a:ext uri="{FF2B5EF4-FFF2-40B4-BE49-F238E27FC236}">
                <a16:creationId xmlns:a16="http://schemas.microsoft.com/office/drawing/2014/main" id="{239EF04A-EB12-48F4-BB24-2FEB1713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1BEC5417-6EE0-429A-AA7A-E0432BA0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From three-dimensional case to flat development</a:t>
            </a:r>
          </a:p>
        </p:txBody>
      </p:sp>
      <p:sp>
        <p:nvSpPr>
          <p:cNvPr id="7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132FC557-4C22-445A-9448-3410DE66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oadmap-index-2">
            <a:extLst xmlns:a="http://schemas.openxmlformats.org/drawingml/2006/main">
              <a:ext uri="{FF2B5EF4-FFF2-40B4-BE49-F238E27FC236}">
                <a16:creationId xmlns:a16="http://schemas.microsoft.com/office/drawing/2014/main" id="{81669AC7-0E26-4CCA-A29B-08E71D7E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7804DF41-0D5F-467B-BF0F-8399BE14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Bending sequence, accumulated error and case fit</a:t>
            </a:r>
          </a:p>
        </p:txBody>
      </p:sp>
      <p:sp>
        <p:nvSpPr>
          <p:cNvPr id="10" name="roadmap-panel-3">
            <a:extLst xmlns:a="http://schemas.openxmlformats.org/drawingml/2006/main">
              <a:ext uri="{FF2B5EF4-FFF2-40B4-BE49-F238E27FC236}">
                <a16:creationId xmlns:a16="http://schemas.microsoft.com/office/drawing/2014/main" id="{79F91F4C-465A-46A3-A642-746EF841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oadmap-index-3">
            <a:extLst xmlns:a="http://schemas.openxmlformats.org/drawingml/2006/main">
              <a:ext uri="{FF2B5EF4-FFF2-40B4-BE49-F238E27FC236}">
                <a16:creationId xmlns:a16="http://schemas.microsoft.com/office/drawing/2014/main" id="{EE9D9F33-D1FC-44CF-BDF0-3F12545B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B192634C-6AA9-4BDA-9547-E641E3F0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Hinges and handle as an evidence-based design problem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14E3E7CC-8E3E-4C69-A3B2-C383A0F5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8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76F5B111-E934-4DED-959A-F073A4E3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52252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1FFFD9F-9763-49E9-BFE1-5B7A60CB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4C1FF1-819F-453F-BA20-C9DCBE38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From three-dimensional case to flat development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1BEEAD5-B60E-48A6-8306-C0248A1D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de8ea93594a4c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1-bullet-1">
            <a:extLst xmlns:a="http://schemas.openxmlformats.org/drawingml/2006/main">
              <a:ext uri="{FF2B5EF4-FFF2-40B4-BE49-F238E27FC236}">
                <a16:creationId xmlns:a16="http://schemas.microsoft.com/office/drawing/2014/main" id="{F72739DC-FCF4-4165-9A76-C967F13F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Read the development as connected surfaces, not separate shapes.</a:t>
            </a:r>
          </a:p>
        </p:txBody>
      </p:sp>
      <p:sp>
        <p:nvSpPr>
          <p:cNvPr id="6" name="theory-1-bullet-2">
            <a:extLst xmlns:a="http://schemas.openxmlformats.org/drawingml/2006/main">
              <a:ext uri="{FF2B5EF4-FFF2-40B4-BE49-F238E27FC236}">
                <a16:creationId xmlns:a16="http://schemas.microsoft.com/office/drawing/2014/main" id="{FDB72A7B-68DA-458E-9254-8292B795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Preserve reference lines and orientation throughout production.</a:t>
            </a:r>
          </a:p>
        </p:txBody>
      </p:sp>
      <p:sp>
        <p:nvSpPr>
          <p:cNvPr id="7" name="theory-1-bullet-3">
            <a:extLst xmlns:a="http://schemas.openxmlformats.org/drawingml/2006/main">
              <a:ext uri="{FF2B5EF4-FFF2-40B4-BE49-F238E27FC236}">
                <a16:creationId xmlns:a16="http://schemas.microsoft.com/office/drawing/2014/main" id="{FACDD032-6A67-4BC5-9768-2177718C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 only drawing-controlled allowances and approved sequence information.</a:t>
            </a:r>
          </a:p>
        </p:txBody>
      </p:sp>
      <p:sp>
        <p:nvSpPr>
          <p:cNvPr id="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63D44FEB-1620-4A74-ADF1-F015839E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8</a:t>
            </a:r>
          </a:p>
        </p:txBody>
      </p:sp>
      <p:sp>
        <p:nvSpPr>
          <p:cNvPr id="9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245EBBC2-F215-419A-A1B6-136BE9B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966022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D5AD25E3-C605-41E9-829B-F6E172B4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247EF5-AC65-4F5A-8F2B-DDF1F944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Bending sequence, accumulated error and case fit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06A0438-FB30-4810-BC88-054A4F38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a43f407a845ea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2-bullet-1">
            <a:extLst xmlns:a="http://schemas.openxmlformats.org/drawingml/2006/main">
              <a:ext uri="{FF2B5EF4-FFF2-40B4-BE49-F238E27FC236}">
                <a16:creationId xmlns:a16="http://schemas.microsoft.com/office/drawing/2014/main" id="{D436894D-96C1-4340-BE66-D08B1AD8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Each forming stage affects later geometry, access and alignment.</a:t>
            </a:r>
          </a:p>
        </p:txBody>
      </p:sp>
      <p:sp>
        <p:nvSpPr>
          <p:cNvPr id="6" name="theory-2-bullet-2">
            <a:extLst xmlns:a="http://schemas.openxmlformats.org/drawingml/2006/main">
              <a:ext uri="{FF2B5EF4-FFF2-40B4-BE49-F238E27FC236}">
                <a16:creationId xmlns:a16="http://schemas.microsoft.com/office/drawing/2014/main" id="{A7FC2E72-FF14-4C84-8435-835D8783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Consistent datums and intermediate checks limit accumulated error.</a:t>
            </a:r>
          </a:p>
        </p:txBody>
      </p:sp>
      <p:sp>
        <p:nvSpPr>
          <p:cNvPr id="7" name="theory-2-bullet-3">
            <a:extLst xmlns:a="http://schemas.openxmlformats.org/drawingml/2006/main">
              <a:ext uri="{FF2B5EF4-FFF2-40B4-BE49-F238E27FC236}">
                <a16:creationId xmlns:a16="http://schemas.microsoft.com/office/drawing/2014/main" id="{7696EAE9-4C4B-45BB-B218-C34A29BD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Report unexpected fit or material response before continuing.</a:t>
            </a:r>
          </a:p>
        </p:txBody>
      </p:sp>
      <p:sp>
        <p:nvSpPr>
          <p:cNvPr id="8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8B232709-7870-4BE7-B07C-1AC2AED1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8</a:t>
            </a:r>
          </a:p>
        </p:txBody>
      </p:sp>
      <p:sp>
        <p:nvSpPr>
          <p:cNvPr id="9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A91BA89E-4D7C-48E7-A3AF-6A7F235A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71887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552E2DF-5D24-4EF6-A432-0EAFA558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68E3C1-8C88-4591-A741-C020F930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Hinges and handle as an evidence-based design problem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D0FC271-E52E-4F5D-B4C2-E38D2954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502f9f5c7499d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3-bullet-1">
            <a:extLst xmlns:a="http://schemas.openxmlformats.org/drawingml/2006/main">
              <a:ext uri="{FF2B5EF4-FFF2-40B4-BE49-F238E27FC236}">
                <a16:creationId xmlns:a16="http://schemas.microsoft.com/office/drawing/2014/main" id="{C2DBBCEB-272E-47A4-94E2-5A091E18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Define confirmed constraints before generating possible arrangements.</a:t>
            </a:r>
          </a:p>
        </p:txBody>
      </p:sp>
      <p:sp>
        <p:nvSpPr>
          <p:cNvPr id="6" name="theory-3-bullet-2">
            <a:extLst xmlns:a="http://schemas.openxmlformats.org/drawingml/2006/main">
              <a:ext uri="{FF2B5EF4-FFF2-40B4-BE49-F238E27FC236}">
                <a16:creationId xmlns:a16="http://schemas.microsoft.com/office/drawing/2014/main" id="{FE88CD69-745B-4688-83CA-25D8D511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Compare alternatives using approved functional and manufacturing criteria.</a:t>
            </a:r>
          </a:p>
        </p:txBody>
      </p:sp>
      <p:sp>
        <p:nvSpPr>
          <p:cNvPr id="7" name="theory-3-bullet-3">
            <a:extLst xmlns:a="http://schemas.openxmlformats.org/drawingml/2006/main">
              <a:ext uri="{FF2B5EF4-FFF2-40B4-BE49-F238E27FC236}">
                <a16:creationId xmlns:a16="http://schemas.microsoft.com/office/drawing/2014/main" id="{1C35F94D-204B-43E2-AFEC-D69E8269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Record trial evidence and seek teacher approval before finalising.</a:t>
            </a:r>
          </a:p>
        </p:txBody>
      </p:sp>
      <p:sp>
        <p:nvSpPr>
          <p:cNvPr id="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4432BB95-B1E9-40BD-B471-41221AD3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8</a:t>
            </a:r>
          </a:p>
        </p:txBody>
      </p:sp>
      <p:sp>
        <p:nvSpPr>
          <p:cNvPr id="9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8DC8B67B-0C7D-4559-B1FA-8655A4B7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71452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6E0E5F54-0D48-44B2-9B8D-F33D4720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LEARNING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FCDE91-47C0-4297-AB7B-371C4686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you explain each idea without guessing?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16BFB66-B616-4BFB-B1E0-E1F9F35F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Answer in your own words before opening the online knowledge checks.</a:t>
            </a:r>
          </a:p>
        </p:txBody>
      </p:sp>
      <p:sp>
        <p:nvSpPr>
          <p:cNvPr id="4" name="check-panel-1">
            <a:extLst xmlns:a="http://schemas.openxmlformats.org/drawingml/2006/main">
              <a:ext uri="{FF2B5EF4-FFF2-40B4-BE49-F238E27FC236}">
                <a16:creationId xmlns:a16="http://schemas.microsoft.com/office/drawing/2014/main" id="{33AC4182-7451-4CD8-9FBC-2080CFE8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B4B7F4CF-3579-45A0-9C0A-B6747C6A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question-1">
            <a:extLst xmlns:a="http://schemas.openxmlformats.org/drawingml/2006/main">
              <a:ext uri="{FF2B5EF4-FFF2-40B4-BE49-F238E27FC236}">
                <a16:creationId xmlns:a16="http://schemas.microsoft.com/office/drawing/2014/main" id="{A566F192-A037-4C1E-AD2E-F215F98E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is the main purpose of a development?</a:t>
            </a:r>
          </a:p>
        </p:txBody>
      </p:sp>
      <p:sp>
        <p:nvSpPr>
          <p:cNvPr id="7" name="check-panel-2">
            <a:extLst xmlns:a="http://schemas.openxmlformats.org/drawingml/2006/main">
              <a:ext uri="{FF2B5EF4-FFF2-40B4-BE49-F238E27FC236}">
                <a16:creationId xmlns:a16="http://schemas.microsoft.com/office/drawing/2014/main" id="{A87D1846-B856-4E3A-8998-CD929413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check-index-2">
            <a:extLst xmlns:a="http://schemas.openxmlformats.org/drawingml/2006/main">
              <a:ext uri="{FF2B5EF4-FFF2-40B4-BE49-F238E27FC236}">
                <a16:creationId xmlns:a16="http://schemas.microsoft.com/office/drawing/2014/main" id="{E4716045-4F58-4FBA-AF7B-6A185AE4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eck-question-2">
            <a:extLst xmlns:a="http://schemas.openxmlformats.org/drawingml/2006/main">
              <a:ext uri="{FF2B5EF4-FFF2-40B4-BE49-F238E27FC236}">
                <a16:creationId xmlns:a16="http://schemas.microsoft.com/office/drawing/2014/main" id="{FCF0678D-1B43-40E8-ACB5-CDC369AE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should the teacher-issued bending sequence be followed?</a:t>
            </a:r>
          </a:p>
        </p:txBody>
      </p:sp>
      <p:sp>
        <p:nvSpPr>
          <p:cNvPr id="10" name="check-panel-3">
            <a:extLst xmlns:a="http://schemas.openxmlformats.org/drawingml/2006/main">
              <a:ext uri="{FF2B5EF4-FFF2-40B4-BE49-F238E27FC236}">
                <a16:creationId xmlns:a16="http://schemas.microsoft.com/office/drawing/2014/main" id="{727E9717-6A25-4B85-ABB9-84217464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check-index-3">
            <a:extLst xmlns:a="http://schemas.openxmlformats.org/drawingml/2006/main">
              <a:ext uri="{FF2B5EF4-FFF2-40B4-BE49-F238E27FC236}">
                <a16:creationId xmlns:a16="http://schemas.microsoft.com/office/drawing/2014/main" id="{29A49381-985D-47FE-8BA3-5D33EC34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check-question-3">
            <a:extLst xmlns:a="http://schemas.openxmlformats.org/drawingml/2006/main">
              <a:ext uri="{FF2B5EF4-FFF2-40B4-BE49-F238E27FC236}">
                <a16:creationId xmlns:a16="http://schemas.microsoft.com/office/drawing/2014/main" id="{85F42C46-495C-4CAD-AE91-18B0DC71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students do before generating hinge and handle arrangements?</a:t>
            </a:r>
          </a:p>
        </p:txBody>
      </p:sp>
      <p:sp>
        <p:nvSpPr>
          <p:cNvPr id="1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B7024478-1976-4E5D-9EA6-0135AA41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8</a:t>
            </a:r>
          </a:p>
        </p:txBody>
      </p:sp>
      <p:sp>
        <p:nvSpPr>
          <p:cNvPr id="14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E3B5BC2D-E4DC-4E53-B706-44EF2820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182043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3A9BB5E3-7B28-47FF-9A85-3D9A9E95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WRITTEN RESPONSE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93B12C-61E2-4042-8F6C-CE643CFE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evidence, then explain your thinking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CEEAA47-61FC-4D7A-853C-AD017703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The example shows an appropriate level of detail; do not copy it as your own response.</a:t>
            </a:r>
          </a:p>
        </p:txBody>
      </p:sp>
      <p:sp>
        <p:nvSpPr>
          <p:cNvPr id="4" name="response-prompt-panel">
            <a:extLst xmlns:a="http://schemas.openxmlformats.org/drawingml/2006/main">
              <a:ext uri="{FF2B5EF4-FFF2-40B4-BE49-F238E27FC236}">
                <a16:creationId xmlns:a16="http://schemas.microsoft.com/office/drawing/2014/main" id="{B7E296EC-6791-42F3-B53C-9941DFA6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sponse-prompt-heading">
            <a:extLst xmlns:a="http://schemas.openxmlformats.org/drawingml/2006/main">
              <a:ext uri="{FF2B5EF4-FFF2-40B4-BE49-F238E27FC236}">
                <a16:creationId xmlns:a16="http://schemas.microsoft.com/office/drawing/2014/main" id="{6C0CF494-0384-4639-A944-7216BA43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YOUR PROMPT</a:t>
            </a:r>
          </a:p>
        </p:txBody>
      </p:sp>
      <p:sp>
        <p:nvSpPr>
          <p:cNvPr id="6" name="response-prompt">
            <a:extLst xmlns:a="http://schemas.openxmlformats.org/drawingml/2006/main">
              <a:ext uri="{FF2B5EF4-FFF2-40B4-BE49-F238E27FC236}">
                <a16:creationId xmlns:a16="http://schemas.microsoft.com/office/drawing/2014/main" id="{CEF649BC-1AEC-42D5-B639-E3DAF164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667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Annotate a teacher-issued development to explain the role of one reference, one formed feature and one hold point.</a:t>
            </a:r>
          </a:p>
        </p:txBody>
      </p:sp>
      <p:sp>
        <p:nvSpPr>
          <p:cNvPr id="7" name="response-model-panel">
            <a:extLst xmlns:a="http://schemas.openxmlformats.org/drawingml/2006/main">
              <a:ext uri="{FF2B5EF4-FFF2-40B4-BE49-F238E27FC236}">
                <a16:creationId xmlns:a16="http://schemas.microsoft.com/office/drawing/2014/main" id="{AE54626C-9B7A-43FC-9F25-C7FBFC59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5600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9015D0B9-D989-4F66-8FA6-DF528264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APPROPRIATE RESPONSE EXAMPLE</a:t>
            </a:r>
          </a:p>
        </p:txBody>
      </p:sp>
      <p:sp>
        <p:nvSpPr>
          <p:cNvPr id="9" name="response-model">
            <a:extLst xmlns:a="http://schemas.openxmlformats.org/drawingml/2006/main">
              <a:ext uri="{FF2B5EF4-FFF2-40B4-BE49-F238E27FC236}">
                <a16:creationId xmlns:a16="http://schemas.microsoft.com/office/drawing/2014/main" id="{0FD44000-BFCC-49A8-874C-277DF0E3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suitable response identifies the verified requirement or observation, names the evidence source, explains why the decision follows from it, and labels unresolved details as Teacher to confirm.</a:t>
            </a:r>
          </a:p>
        </p:txBody>
      </p:sp>
      <p:sp>
        <p:nvSpPr>
          <p:cNvPr id="10" name="response-action">
            <a:extLst xmlns:a="http://schemas.openxmlformats.org/drawingml/2006/main">
              <a:ext uri="{FF2B5EF4-FFF2-40B4-BE49-F238E27FC236}">
                <a16:creationId xmlns:a16="http://schemas.microsoft.com/office/drawing/2014/main" id="{4E1D3D1E-1B66-4248-A0B5-A1A06311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Complete the response online, check your evidence, then save or print it as directed.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E7E00783-B965-4779-BBFE-C9C1C7CA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8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0007C2C5-ACF2-4A96-8813-430E255F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51148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2026-08-16T10:43:21.7300000Z</dcterms:created>
  <dcterms:modified xsi:type="dcterms:W3CDTF">2026-08-16T10:43:21.7300000Z</dcterms:modified>
</coreProperties>
</file>