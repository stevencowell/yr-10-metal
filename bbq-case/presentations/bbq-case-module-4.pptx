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ba733737454cba" /><Relationship Type="http://schemas.openxmlformats.org/officeDocument/2006/relationships/extended-properties" Target="/docProps/app.xml" Id="R17a8bb324f304279" /><Relationship Type="http://schemas.openxmlformats.org/officeDocument/2006/relationships/officeDocument" Target="/ppt/presentation.xml" Id="Ra26d346649af47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481421bbf84539"/>
  </p:sldMasterIdLst>
  <p:notesMasterIdLst>
    <p:notesMasterId xmlns:r="http://schemas.openxmlformats.org/officeDocument/2006/relationships" r:id="R69032363a59548df"/>
  </p:notesMasterIdLst>
  <p:sldIdLst>
    <p:sldId xmlns:r="http://schemas.openxmlformats.org/officeDocument/2006/relationships" id="256" r:id="R3dd89a1f6fa14c84"/>
    <p:sldId xmlns:r="http://schemas.openxmlformats.org/officeDocument/2006/relationships" id="257" r:id="R5d3307878570491c"/>
    <p:sldId xmlns:r="http://schemas.openxmlformats.org/officeDocument/2006/relationships" id="258" r:id="Rb7a4d2f315144153"/>
    <p:sldId xmlns:r="http://schemas.openxmlformats.org/officeDocument/2006/relationships" id="259" r:id="R0eee0c11654e449d"/>
    <p:sldId xmlns:r="http://schemas.openxmlformats.org/officeDocument/2006/relationships" id="260" r:id="R88a9328de4c044ab"/>
    <p:sldId xmlns:r="http://schemas.openxmlformats.org/officeDocument/2006/relationships" id="261" r:id="R3f34c59c3fb745a7"/>
    <p:sldId xmlns:r="http://schemas.openxmlformats.org/officeDocument/2006/relationships" id="262" r:id="Rbce5b68ddbc748b8"/>
    <p:sldId xmlns:r="http://schemas.openxmlformats.org/officeDocument/2006/relationships" id="263" r:id="Rf1d4f4c97af445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33a1e175ea4bed" /><Relationship Type="http://schemas.openxmlformats.org/officeDocument/2006/relationships/slideMaster" Target="/ppt/slideMasters/slideMaster1.xml" Id="Raa481421bbf84539" /><Relationship Type="http://schemas.openxmlformats.org/officeDocument/2006/relationships/notesMaster" Target="/ppt/notesMasters/notesMaster1.xml" Id="R69032363a59548df" /><Relationship Type="http://schemas.openxmlformats.org/officeDocument/2006/relationships/presProps" Target="/ppt/presProps.xml" Id="R955d9c970add4f7e" /><Relationship Type="http://schemas.openxmlformats.org/officeDocument/2006/relationships/tableStyles" Target="/ppt/tableStyles.xml" Id="Rdcba12ef79164be9" /><Relationship Type="http://schemas.openxmlformats.org/officeDocument/2006/relationships/slide" Target="/ppt/slides/slide1.xml" Id="R3dd89a1f6fa14c84" /><Relationship Type="http://schemas.openxmlformats.org/officeDocument/2006/relationships/slide" Target="/ppt/slides/slide2.xml" Id="R5d3307878570491c" /><Relationship Type="http://schemas.openxmlformats.org/officeDocument/2006/relationships/slide" Target="/ppt/slides/slide3.xml" Id="Rb7a4d2f315144153" /><Relationship Type="http://schemas.openxmlformats.org/officeDocument/2006/relationships/slide" Target="/ppt/slides/slide4.xml" Id="R0eee0c11654e449d" /><Relationship Type="http://schemas.openxmlformats.org/officeDocument/2006/relationships/slide" Target="/ppt/slides/slide5.xml" Id="R88a9328de4c044ab" /><Relationship Type="http://schemas.openxmlformats.org/officeDocument/2006/relationships/slide" Target="/ppt/slides/slide6.xml" Id="R3f34c59c3fb745a7" /><Relationship Type="http://schemas.openxmlformats.org/officeDocument/2006/relationships/slide" Target="/ppt/slides/slide7.xml" Id="Rbce5b68ddbc748b8" /><Relationship Type="http://schemas.openxmlformats.org/officeDocument/2006/relationships/slide" Target="/ppt/slides/slide8.xml" Id="Rf1d4f4c97af445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cbb9cee2694d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d1dcfdc16e4342" /><Relationship Type="http://schemas.openxmlformats.org/officeDocument/2006/relationships/notesMaster" Target="/ppt/notesMasters/notesMaster1.xml" Id="R48d22366327c4c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83622069d14601" /><Relationship Type="http://schemas.openxmlformats.org/officeDocument/2006/relationships/notesMaster" Target="/ppt/notesMasters/notesMaster1.xml" Id="Rf0a27b883d144c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eb746bbcb74ace" /><Relationship Type="http://schemas.openxmlformats.org/officeDocument/2006/relationships/notesMaster" Target="/ppt/notesMasters/notesMaster1.xml" Id="Ra2c0b3f9eb9142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8e900440a146cc" /><Relationship Type="http://schemas.openxmlformats.org/officeDocument/2006/relationships/notesMaster" Target="/ppt/notesMasters/notesMaster1.xml" Id="R5e7655ce74ce44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54e18da014418e" /><Relationship Type="http://schemas.openxmlformats.org/officeDocument/2006/relationships/notesMaster" Target="/ppt/notesMasters/notesMaster1.xml" Id="Rd5767ef3f24b4d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08913484b64a00" /><Relationship Type="http://schemas.openxmlformats.org/officeDocument/2006/relationships/notesMaster" Target="/ppt/notesMasters/notesMaster1.xml" Id="Rdbdd037e8b1148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f0c604b128419e" /><Relationship Type="http://schemas.openxmlformats.org/officeDocument/2006/relationships/notesMaster" Target="/ppt/notesMasters/notesMaster1.xml" Id="R799607d0c95f46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e1740bd4e2402f" /><Relationship Type="http://schemas.openxmlformats.org/officeDocument/2006/relationships/notesMaster" Target="/ppt/notesMasters/notesMaster1.xml" Id="R464d30b6d8ed48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7b6afe9ea94e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d1709e0fe04c9c" /><Relationship Type="http://schemas.openxmlformats.org/officeDocument/2006/relationships/slideLayout" Target="/ppt/slideLayouts/slideLayout1.xml" Id="R66a32a7b1d734a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a32a7b1d734a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cb0dcc571d4879" /><Relationship Type="http://schemas.openxmlformats.org/officeDocument/2006/relationships/notesSlide" Target="/ppt/notesSlides/notesSlide1.xml" Id="R1e1f0a41ab0e48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f44de8fb94408" /><Relationship Type="http://schemas.openxmlformats.org/officeDocument/2006/relationships/notesSlide" Target="/ppt/notesSlides/notesSlide2.xml" Id="R36be9ba464b94f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75573006e24808" /><Relationship Type="http://schemas.openxmlformats.org/officeDocument/2006/relationships/notesSlide" Target="/ppt/notesSlides/notesSlide3.xml" Id="R6bf53ea6586748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14f79ee06473b" /><Relationship Type="http://schemas.openxmlformats.org/officeDocument/2006/relationships/image" Target="/ppt/media/image.png" Id="R2068b801c1324bce" /><Relationship Type="http://schemas.openxmlformats.org/officeDocument/2006/relationships/notesSlide" Target="/ppt/notesSlides/notesSlide4.xml" Id="R53446650b8514c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6f29402bc41ec" /><Relationship Type="http://schemas.openxmlformats.org/officeDocument/2006/relationships/image" Target="/ppt/media/image2.png" Id="Rb72952d3d23d4c90" /><Relationship Type="http://schemas.openxmlformats.org/officeDocument/2006/relationships/notesSlide" Target="/ppt/notesSlides/notesSlide5.xml" Id="R6eacfe3c797a4b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914df026d54e19" /><Relationship Type="http://schemas.openxmlformats.org/officeDocument/2006/relationships/image" Target="/ppt/media/image3.png" Id="Raf3cac6fa59d4d48" /><Relationship Type="http://schemas.openxmlformats.org/officeDocument/2006/relationships/notesSlide" Target="/ppt/notesSlides/notesSlide6.xml" Id="R8fb788c5646348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2c71ee041420c" /><Relationship Type="http://schemas.openxmlformats.org/officeDocument/2006/relationships/notesSlide" Target="/ppt/notesSlides/notesSlide7.xml" Id="R0cf593c674534c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697b209a64529" /><Relationship Type="http://schemas.openxmlformats.org/officeDocument/2006/relationships/notesSlide" Target="/ppt/notesSlides/notesSlide8.xml" Id="Rb82b1d75813e43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label">
            <a:extLst xmlns:a="http://schemas.openxmlformats.org/drawingml/2006/main">
              <a:ext uri="{FF2B5EF4-FFF2-40B4-BE49-F238E27FC236}">
                <a16:creationId xmlns:a16="http://schemas.microsoft.com/office/drawing/2014/main" id="{C6748009-7DE5-4623-A830-DE98E44E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35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BBQ AND CASE · MODULE 4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0C7FC3D-AD3E-4F5C-8A15-BE6DE921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0001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WMS and repeatable work</a:t>
            </a:r>
          </a:p>
        </p:txBody>
      </p:sp>
      <p:sp>
        <p:nvSpPr>
          <p:cNvPr id="3" name="cover-summary">
            <a:extLst xmlns:a="http://schemas.openxmlformats.org/drawingml/2006/main">
              <a:ext uri="{FF2B5EF4-FFF2-40B4-BE49-F238E27FC236}">
                <a16:creationId xmlns:a16="http://schemas.microsoft.com/office/drawing/2014/main" id="{474A21FA-3CCC-41F3-BF3C-0054A256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838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51616A"/>
                </a:solidFill>
                <a:latin typeface="Arial"/>
                <a:ea typeface="Arial"/>
                <a:cs typeface="Arial"/>
              </a:rPr>
              <a:t>Plan lathe work, dimensional control and teacher review through documented hold points.</a:t>
            </a:r>
          </a:p>
        </p:txBody>
      </p:sp>
      <p:sp>
        <p:nvSpPr>
          <p:cNvPr id="4" name="cover-weeks">
            <a:extLst xmlns:a="http://schemas.openxmlformats.org/drawingml/2006/main">
              <a:ext uri="{FF2B5EF4-FFF2-40B4-BE49-F238E27FC236}">
                <a16:creationId xmlns:a16="http://schemas.microsoft.com/office/drawing/2014/main" id="{46A3228B-B1F5-4B97-B1D9-8C3DE87C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Weeks 7–8</a:t>
            </a:r>
          </a:p>
        </p:txBody>
      </p:sp>
    </p:spTree>
    <p:extLst>
      <p:ext uri="{BB962C8B-B14F-4D97-AF65-F5344CB8AC3E}">
        <p14:creationId xmlns:p14="http://schemas.microsoft.com/office/powerpoint/2010/main" val="18767824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F1F0BF56-D6F8-4759-9E90-C48F9116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DD2978-97E4-4E7A-9254-B65C1FBA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Start with what you already know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38ACC35-AB8C-447F-8E4F-009A83A2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Think first. Discuss your reasoning, then check it against the module.</a:t>
            </a:r>
          </a:p>
        </p:txBody>
      </p:sp>
      <p:sp>
        <p:nvSpPr>
          <p:cNvPr id="4" name="retrieval-panel-1">
            <a:extLst xmlns:a="http://schemas.openxmlformats.org/drawingml/2006/main">
              <a:ext uri="{FF2B5EF4-FFF2-40B4-BE49-F238E27FC236}">
                <a16:creationId xmlns:a16="http://schemas.microsoft.com/office/drawing/2014/main" id="{73B5E02F-8887-4F57-9A1E-534E1BE4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1112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retrieval-number-1">
            <a:extLst xmlns:a="http://schemas.openxmlformats.org/drawingml/2006/main">
              <a:ext uri="{FF2B5EF4-FFF2-40B4-BE49-F238E27FC236}">
                <a16:creationId xmlns:a16="http://schemas.microsoft.com/office/drawing/2014/main" id="{C2A6B9AD-712C-4DC2-8060-9BD7DF95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retrieval-question-1">
            <a:extLst xmlns:a="http://schemas.openxmlformats.org/drawingml/2006/main">
              <a:ext uri="{FF2B5EF4-FFF2-40B4-BE49-F238E27FC236}">
                <a16:creationId xmlns:a16="http://schemas.microsoft.com/office/drawing/2014/main" id="{296B2389-1722-45BC-AE78-AA164D26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33675"/>
            <a:ext cx="998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is the main purpose of a lathe Work Method Statement according to the theory?</a:t>
            </a:r>
          </a:p>
        </p:txBody>
      </p:sp>
      <p:sp>
        <p:nvSpPr>
          <p:cNvPr id="7" name="retrieval-panel-2">
            <a:extLst xmlns:a="http://schemas.openxmlformats.org/drawingml/2006/main">
              <a:ext uri="{FF2B5EF4-FFF2-40B4-BE49-F238E27FC236}">
                <a16:creationId xmlns:a16="http://schemas.microsoft.com/office/drawing/2014/main" id="{FC063A02-BAB0-4405-AC03-49CED1C8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76650"/>
            <a:ext cx="1112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retrieval-number-2">
            <a:extLst xmlns:a="http://schemas.openxmlformats.org/drawingml/2006/main">
              <a:ext uri="{FF2B5EF4-FFF2-40B4-BE49-F238E27FC236}">
                <a16:creationId xmlns:a16="http://schemas.microsoft.com/office/drawing/2014/main" id="{E1F2A8C2-AAE9-47C7-A29D-61EB445B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766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retrieval-question-2">
            <a:extLst xmlns:a="http://schemas.openxmlformats.org/drawingml/2006/main">
              <a:ext uri="{FF2B5EF4-FFF2-40B4-BE49-F238E27FC236}">
                <a16:creationId xmlns:a16="http://schemas.microsoft.com/office/drawing/2014/main" id="{12D97C37-D417-45FB-AD36-74B7084D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00475"/>
            <a:ext cx="998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Which item should a WMS identify before machining begins?</a:t>
            </a:r>
          </a:p>
        </p:txBody>
      </p:sp>
      <p:sp>
        <p:nvSpPr>
          <p:cNvPr id="10" name="retrieval-panel-3">
            <a:extLst xmlns:a="http://schemas.openxmlformats.org/drawingml/2006/main">
              <a:ext uri="{FF2B5EF4-FFF2-40B4-BE49-F238E27FC236}">
                <a16:creationId xmlns:a16="http://schemas.microsoft.com/office/drawing/2014/main" id="{37686037-A5E0-4DA5-900F-70F58F9B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43450"/>
            <a:ext cx="1112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11" name="retrieval-number-3">
            <a:extLst xmlns:a="http://schemas.openxmlformats.org/drawingml/2006/main">
              <a:ext uri="{FF2B5EF4-FFF2-40B4-BE49-F238E27FC236}">
                <a16:creationId xmlns:a16="http://schemas.microsoft.com/office/drawing/2014/main" id="{AAB78412-5B3F-4989-9B13-2B5F00CA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434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retrieval-question-3">
            <a:extLst xmlns:a="http://schemas.openxmlformats.org/drawingml/2006/main">
              <a:ext uri="{FF2B5EF4-FFF2-40B4-BE49-F238E27FC236}">
                <a16:creationId xmlns:a16="http://schemas.microsoft.com/office/drawing/2014/main" id="{E1E2E1FA-4E2A-4CFC-908F-F72747F0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67275"/>
            <a:ext cx="998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Why are hold points included in a lathe WMS?</a:t>
            </a:r>
          </a:p>
        </p:txBody>
      </p:sp>
      <p:sp>
        <p:nvSpPr>
          <p:cNvPr id="13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1969C118-DBB9-4230-8E63-543AAE3A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BBQ and Case · Module 4</a:t>
            </a:r>
          </a:p>
        </p:txBody>
      </p:sp>
      <p:sp>
        <p:nvSpPr>
          <p:cNvPr id="14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3F63E7E2-8835-4DCF-9B92-D2B4BF5D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460998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F94A7BD1-3A47-4987-8AA0-8725417B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07BCDB-1550-4C48-8E56-6E2483F4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Three ideas organise this module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905935F-D0FC-460F-A75B-D2CB5FC9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Work through them in order, then complete the checks and written evidence.</a:t>
            </a:r>
          </a:p>
        </p:txBody>
      </p:sp>
      <p:sp>
        <p:nvSpPr>
          <p:cNvPr id="4" name="roadmap-panel-1">
            <a:extLst xmlns:a="http://schemas.openxmlformats.org/drawingml/2006/main">
              <a:ext uri="{FF2B5EF4-FFF2-40B4-BE49-F238E27FC236}">
                <a16:creationId xmlns:a16="http://schemas.microsoft.com/office/drawing/2014/main" id="{BE404C32-28F4-46DD-8985-166D0F39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3476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roadmap-index-1">
            <a:extLst xmlns:a="http://schemas.openxmlformats.org/drawingml/2006/main">
              <a:ext uri="{FF2B5EF4-FFF2-40B4-BE49-F238E27FC236}">
                <a16:creationId xmlns:a16="http://schemas.microsoft.com/office/drawing/2014/main" id="{01E3F30F-6106-4B9D-A0F6-518A38D1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oadmap-title-1">
            <a:extLst xmlns:a="http://schemas.openxmlformats.org/drawingml/2006/main">
              <a:ext uri="{FF2B5EF4-FFF2-40B4-BE49-F238E27FC236}">
                <a16:creationId xmlns:a16="http://schemas.microsoft.com/office/drawing/2014/main" id="{759D2FDD-BEFF-4500-B1AC-CE5A649F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3019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Reading a lathe operation through the WMS</a:t>
            </a:r>
          </a:p>
        </p:txBody>
      </p:sp>
      <p:sp>
        <p:nvSpPr>
          <p:cNvPr id="7" name="roadmap-panel-2">
            <a:extLst xmlns:a="http://schemas.openxmlformats.org/drawingml/2006/main">
              <a:ext uri="{FF2B5EF4-FFF2-40B4-BE49-F238E27FC236}">
                <a16:creationId xmlns:a16="http://schemas.microsoft.com/office/drawing/2014/main" id="{70070AA0-9442-4FA9-B047-EA0670F0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3476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roadmap-index-2">
            <a:extLst xmlns:a="http://schemas.openxmlformats.org/drawingml/2006/main">
              <a:ext uri="{FF2B5EF4-FFF2-40B4-BE49-F238E27FC236}">
                <a16:creationId xmlns:a16="http://schemas.microsoft.com/office/drawing/2014/main" id="{6BB1C688-5885-4DAD-BBF4-8975BC58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765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roadmap-title-2">
            <a:extLst xmlns:a="http://schemas.openxmlformats.org/drawingml/2006/main">
              <a:ext uri="{FF2B5EF4-FFF2-40B4-BE49-F238E27FC236}">
                <a16:creationId xmlns:a16="http://schemas.microsoft.com/office/drawing/2014/main" id="{99467249-33C4-4D8C-8AB7-525AD670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486150"/>
            <a:ext cx="3019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Cutting action, reference surfaces and dimensional control</a:t>
            </a:r>
          </a:p>
        </p:txBody>
      </p:sp>
      <p:sp>
        <p:nvSpPr>
          <p:cNvPr id="10" name="roadmap-panel-3">
            <a:extLst xmlns:a="http://schemas.openxmlformats.org/drawingml/2006/main">
              <a:ext uri="{FF2B5EF4-FFF2-40B4-BE49-F238E27FC236}">
                <a16:creationId xmlns:a16="http://schemas.microsoft.com/office/drawing/2014/main" id="{C6ECA02C-A1C1-46EF-BC2E-55393F9C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47950"/>
            <a:ext cx="3476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11" name="roadmap-index-3">
            <a:extLst xmlns:a="http://schemas.openxmlformats.org/drawingml/2006/main">
              <a:ext uri="{FF2B5EF4-FFF2-40B4-BE49-F238E27FC236}">
                <a16:creationId xmlns:a16="http://schemas.microsoft.com/office/drawing/2014/main" id="{3780DFB8-A1AD-463A-941F-50C3B620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765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roadmap-title-3">
            <a:extLst xmlns:a="http://schemas.openxmlformats.org/drawingml/2006/main">
              <a:ext uri="{FF2B5EF4-FFF2-40B4-BE49-F238E27FC236}">
                <a16:creationId xmlns:a16="http://schemas.microsoft.com/office/drawing/2014/main" id="{2217677E-C9FE-4BE0-9982-303A2708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86150"/>
            <a:ext cx="3019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Surface quality, fit and documented teacher review</a:t>
            </a:r>
          </a:p>
        </p:txBody>
      </p:sp>
      <p:sp>
        <p:nvSpPr>
          <p:cNvPr id="13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E121D537-079B-45CA-B853-17B6E92A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BBQ and Case · Module 4</a:t>
            </a:r>
          </a:p>
        </p:txBody>
      </p:sp>
      <p:sp>
        <p:nvSpPr>
          <p:cNvPr id="14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E54E142E-DC42-4853-B950-3DB2D883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186512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1BACD36-2D80-46BF-9F6E-487BCD9C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THEORY 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46B859-0EFB-41D6-BC8D-D8A21613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Reading a lathe operation through the WMS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F5BB35F-8496-49D9-BDF2-D7D8B38F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Use the key ideas to interpret the project evidence and make a controlled decision.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68b801c1324bce"/>
          <a:srcRect xmlns:a="http://schemas.openxmlformats.org/drawingml/2006/main" l="6682" t="0" r="66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9900" y="2495550"/>
            <a:ext cx="4838700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theory-1-bullet-1">
            <a:extLst xmlns:a="http://schemas.openxmlformats.org/drawingml/2006/main">
              <a:ext uri="{FF2B5EF4-FFF2-40B4-BE49-F238E27FC236}">
                <a16:creationId xmlns:a16="http://schemas.microsoft.com/office/drawing/2014/main" id="{260013D5-F404-4664-93FC-331A25FC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Connect the drawing, workpiece and approved process through the WMS.</a:t>
            </a:r>
          </a:p>
        </p:txBody>
      </p:sp>
      <p:sp>
        <p:nvSpPr>
          <p:cNvPr id="6" name="theory-1-bullet-2">
            <a:extLst xmlns:a="http://schemas.openxmlformats.org/drawingml/2006/main">
              <a:ext uri="{FF2B5EF4-FFF2-40B4-BE49-F238E27FC236}">
                <a16:creationId xmlns:a16="http://schemas.microsoft.com/office/drawing/2014/main" id="{BF4AACF2-8058-4A9B-B6A0-CA4BF14F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Use hold points before irreversible machining stages continue.</a:t>
            </a:r>
          </a:p>
        </p:txBody>
      </p:sp>
      <p:sp>
        <p:nvSpPr>
          <p:cNvPr id="7" name="theory-1-bullet-3">
            <a:extLst xmlns:a="http://schemas.openxmlformats.org/drawingml/2006/main">
              <a:ext uri="{FF2B5EF4-FFF2-40B4-BE49-F238E27FC236}">
                <a16:creationId xmlns:a16="http://schemas.microsoft.com/office/drawing/2014/main" id="{6110FE75-C0DB-4A38-9D45-F2CA7F17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Stop and report any change from approved conditions.</a:t>
            </a:r>
          </a:p>
        </p:txBody>
      </p:sp>
      <p:sp>
        <p:nvSpPr>
          <p:cNvPr id="8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DC18096C-493B-466D-B8DB-4C6BDE1A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BBQ and Case · Module 4</a:t>
            </a:r>
          </a:p>
        </p:txBody>
      </p:sp>
      <p:sp>
        <p:nvSpPr>
          <p:cNvPr id="9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AF8274EB-960E-4D36-A5AD-80AE2203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521088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6FFADDC5-3A2B-494A-9E78-915C40F0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THEORY 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A2F9E44-EF4C-44CA-9EF6-FC5BDB55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Cutting action, reference surfaces and dimensional control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26A1CD4-1C62-47F5-8B54-EC2D4989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Use the key ideas to interpret the project evidence and make a controlled decision.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2952d3d23d4c90"/>
          <a:srcRect xmlns:a="http://schemas.openxmlformats.org/drawingml/2006/main" l="6682" t="0" r="66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9900" y="2495550"/>
            <a:ext cx="4838700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theory-2-bullet-1">
            <a:extLst xmlns:a="http://schemas.openxmlformats.org/drawingml/2006/main">
              <a:ext uri="{FF2B5EF4-FFF2-40B4-BE49-F238E27FC236}">
                <a16:creationId xmlns:a16="http://schemas.microsoft.com/office/drawing/2014/main" id="{5D222C51-296E-46EE-ABB2-1CF1608E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Controlled cutting removes material through deliberate, progressive decisions.</a:t>
            </a:r>
          </a:p>
        </p:txBody>
      </p:sp>
      <p:sp>
        <p:nvSpPr>
          <p:cNvPr id="6" name="theory-2-bullet-2">
            <a:extLst xmlns:a="http://schemas.openxmlformats.org/drawingml/2006/main">
              <a:ext uri="{FF2B5EF4-FFF2-40B4-BE49-F238E27FC236}">
                <a16:creationId xmlns:a16="http://schemas.microsoft.com/office/drawing/2014/main" id="{24F7F634-2FB6-447E-B58E-353232D6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Preserve a consistent reference surface to limit cumulative error.</a:t>
            </a:r>
          </a:p>
        </p:txBody>
      </p:sp>
      <p:sp>
        <p:nvSpPr>
          <p:cNvPr id="7" name="theory-2-bullet-3">
            <a:extLst xmlns:a="http://schemas.openxmlformats.org/drawingml/2006/main">
              <a:ext uri="{FF2B5EF4-FFF2-40B4-BE49-F238E27FC236}">
                <a16:creationId xmlns:a16="http://schemas.microsoft.com/office/drawing/2014/main" id="{8140F677-1F66-4C10-B9B7-F0033761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Accept dimensions through verified checks, not appearance alone.</a:t>
            </a:r>
          </a:p>
        </p:txBody>
      </p:sp>
      <p:sp>
        <p:nvSpPr>
          <p:cNvPr id="8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10AE33D2-31C0-468D-AADD-73E54732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BBQ and Case · Module 4</a:t>
            </a:r>
          </a:p>
        </p:txBody>
      </p:sp>
      <p:sp>
        <p:nvSpPr>
          <p:cNvPr id="9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87629F5D-09B1-42C1-AF7E-1468E177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719571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52070098-4A97-4787-A267-E084AA5B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THEORY 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CBB8DF-75B0-44C6-B102-50B35968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Surface quality, fit and documented teacher review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98C1622-A73A-4ACF-98A9-7DFC888A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Use the key ideas to interpret the project evidence and make a controlled decision.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3cac6fa59d4d48"/>
          <a:srcRect xmlns:a="http://schemas.openxmlformats.org/drawingml/2006/main" l="6682" t="0" r="66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9900" y="2495550"/>
            <a:ext cx="4838700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theory-3-bullet-1">
            <a:extLst xmlns:a="http://schemas.openxmlformats.org/drawingml/2006/main">
              <a:ext uri="{FF2B5EF4-FFF2-40B4-BE49-F238E27FC236}">
                <a16:creationId xmlns:a16="http://schemas.microsoft.com/office/drawing/2014/main" id="{F64AF8A7-776F-465C-8B12-941A815E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Judge size, form, surface condition and fit together.</a:t>
            </a:r>
          </a:p>
        </p:txBody>
      </p:sp>
      <p:sp>
        <p:nvSpPr>
          <p:cNvPr id="6" name="theory-3-bullet-2">
            <a:extLst xmlns:a="http://schemas.openxmlformats.org/drawingml/2006/main">
              <a:ext uri="{FF2B5EF4-FFF2-40B4-BE49-F238E27FC236}">
                <a16:creationId xmlns:a16="http://schemas.microsoft.com/office/drawing/2014/main" id="{374EDD70-406B-4137-B572-FDA9CB2D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Record doubtful results honestly and separate affected work.</a:t>
            </a:r>
          </a:p>
        </p:txBody>
      </p:sp>
      <p:sp>
        <p:nvSpPr>
          <p:cNvPr id="7" name="theory-3-bullet-3">
            <a:extLst xmlns:a="http://schemas.openxmlformats.org/drawingml/2006/main">
              <a:ext uri="{FF2B5EF4-FFF2-40B4-BE49-F238E27FC236}">
                <a16:creationId xmlns:a16="http://schemas.microsoft.com/office/drawing/2014/main" id="{DC661AF1-7F44-440B-88FB-484B91B9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Seek teacher direction before acceptance or rework.</a:t>
            </a:r>
          </a:p>
        </p:txBody>
      </p:sp>
      <p:sp>
        <p:nvSpPr>
          <p:cNvPr id="8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19E3C2A0-052C-452F-9275-798B8EBD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BBQ and Case · Module 4</a:t>
            </a:r>
          </a:p>
        </p:txBody>
      </p:sp>
      <p:sp>
        <p:nvSpPr>
          <p:cNvPr id="9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C39FD0DB-9AD5-4272-B2FC-8CC9E1F3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905347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8720968D-B4B7-49B5-9835-DF1DF24D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LEARNING CHECK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99F0CF-1B65-4C05-B9FD-57742687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Can you explain each idea without guessing?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4D76411-F1F2-46FB-9CFE-1FB25F89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Answer in your own words before opening the online knowledge checks.</a:t>
            </a:r>
          </a:p>
        </p:txBody>
      </p:sp>
      <p:sp>
        <p:nvSpPr>
          <p:cNvPr id="4" name="check-panel-1">
            <a:extLst xmlns:a="http://schemas.openxmlformats.org/drawingml/2006/main">
              <a:ext uri="{FF2B5EF4-FFF2-40B4-BE49-F238E27FC236}">
                <a16:creationId xmlns:a16="http://schemas.microsoft.com/office/drawing/2014/main" id="{0B7EB358-8FB3-4A5D-BA55-C232A4E7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112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check-index-1">
            <a:extLst xmlns:a="http://schemas.openxmlformats.org/drawingml/2006/main">
              <a:ext uri="{FF2B5EF4-FFF2-40B4-BE49-F238E27FC236}">
                <a16:creationId xmlns:a16="http://schemas.microsoft.com/office/drawing/2014/main" id="{A9B60B7C-E01E-4E7C-A754-E2239D37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check-question-1">
            <a:extLst xmlns:a="http://schemas.openxmlformats.org/drawingml/2006/main">
              <a:ext uri="{FF2B5EF4-FFF2-40B4-BE49-F238E27FC236}">
                <a16:creationId xmlns:a16="http://schemas.microsoft.com/office/drawing/2014/main" id="{1178376B-1C19-4448-819C-6E0801BB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24150"/>
            <a:ext cx="9763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is the main purpose of a lathe Work Method Statement according to the theory?</a:t>
            </a:r>
          </a:p>
        </p:txBody>
      </p:sp>
      <p:sp>
        <p:nvSpPr>
          <p:cNvPr id="7" name="check-panel-2">
            <a:extLst xmlns:a="http://schemas.openxmlformats.org/drawingml/2006/main">
              <a:ext uri="{FF2B5EF4-FFF2-40B4-BE49-F238E27FC236}">
                <a16:creationId xmlns:a16="http://schemas.microsoft.com/office/drawing/2014/main" id="{7812206C-25CC-40CD-8753-67DFE72A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1112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check-index-2">
            <a:extLst xmlns:a="http://schemas.openxmlformats.org/drawingml/2006/main">
              <a:ext uri="{FF2B5EF4-FFF2-40B4-BE49-F238E27FC236}">
                <a16:creationId xmlns:a16="http://schemas.microsoft.com/office/drawing/2014/main" id="{D623C199-CC3A-44DB-AB56-FFE1190C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check-question-2">
            <a:extLst xmlns:a="http://schemas.openxmlformats.org/drawingml/2006/main">
              <a:ext uri="{FF2B5EF4-FFF2-40B4-BE49-F238E27FC236}">
                <a16:creationId xmlns:a16="http://schemas.microsoft.com/office/drawing/2014/main" id="{A6C1AEB3-5C48-40D1-B6AB-A4AB0429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90950"/>
            <a:ext cx="9763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Why should material be removed progressively during lathe work?</a:t>
            </a:r>
          </a:p>
        </p:txBody>
      </p:sp>
      <p:sp>
        <p:nvSpPr>
          <p:cNvPr id="10" name="check-panel-3">
            <a:extLst xmlns:a="http://schemas.openxmlformats.org/drawingml/2006/main">
              <a:ext uri="{FF2B5EF4-FFF2-40B4-BE49-F238E27FC236}">
                <a16:creationId xmlns:a16="http://schemas.microsoft.com/office/drawing/2014/main" id="{F2D76C13-F7DD-46E8-91F0-3B4397CC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1112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11" name="check-index-3">
            <a:extLst xmlns:a="http://schemas.openxmlformats.org/drawingml/2006/main">
              <a:ext uri="{FF2B5EF4-FFF2-40B4-BE49-F238E27FC236}">
                <a16:creationId xmlns:a16="http://schemas.microsoft.com/office/drawing/2014/main" id="{BAAF190C-7013-4F7F-8468-975FB037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442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check-question-3">
            <a:extLst xmlns:a="http://schemas.openxmlformats.org/drawingml/2006/main">
              <a:ext uri="{FF2B5EF4-FFF2-40B4-BE49-F238E27FC236}">
                <a16:creationId xmlns:a16="http://schemas.microsoft.com/office/drawing/2014/main" id="{2E26A5B4-C904-4152-B43F-60781276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57750"/>
            <a:ext cx="9763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Which combination should be used to assess a machined feature?</a:t>
            </a:r>
          </a:p>
        </p:txBody>
      </p:sp>
      <p:sp>
        <p:nvSpPr>
          <p:cNvPr id="13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430FE17E-387B-466D-9F92-1F38E83B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BBQ and Case · Module 4</a:t>
            </a:r>
          </a:p>
        </p:txBody>
      </p:sp>
      <p:sp>
        <p:nvSpPr>
          <p:cNvPr id="14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7AB16508-5351-4AB5-9B8B-AB26E29B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823517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D80BA025-2D6E-4CBB-B49C-005EAF93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WRITTEN RESPONSE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7BF5451-EEA3-4B45-A9E5-952DDB3E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Use evidence, then explain your thinking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CC46983-AA11-400E-9591-F8CBAA2F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The example shows an appropriate level of detail; do not copy it as your own response.</a:t>
            </a:r>
          </a:p>
        </p:txBody>
      </p:sp>
      <p:sp>
        <p:nvSpPr>
          <p:cNvPr id="4" name="response-prompt-panel">
            <a:extLst xmlns:a="http://schemas.openxmlformats.org/drawingml/2006/main">
              <a:ext uri="{FF2B5EF4-FFF2-40B4-BE49-F238E27FC236}">
                <a16:creationId xmlns:a16="http://schemas.microsoft.com/office/drawing/2014/main" id="{B2EEE79F-2E18-44E0-A714-E1DB3C25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33650"/>
            <a:ext cx="5219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response-prompt-heading">
            <a:extLst xmlns:a="http://schemas.openxmlformats.org/drawingml/2006/main">
              <a:ext uri="{FF2B5EF4-FFF2-40B4-BE49-F238E27FC236}">
                <a16:creationId xmlns:a16="http://schemas.microsoft.com/office/drawing/2014/main" id="{D5BE8EC6-3304-4702-A6D8-6177789A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YOUR PROMPT</a:t>
            </a:r>
          </a:p>
        </p:txBody>
      </p:sp>
      <p:sp>
        <p:nvSpPr>
          <p:cNvPr id="6" name="response-prompt">
            <a:extLst xmlns:a="http://schemas.openxmlformats.org/drawingml/2006/main">
              <a:ext uri="{FF2B5EF4-FFF2-40B4-BE49-F238E27FC236}">
                <a16:creationId xmlns:a16="http://schemas.microsoft.com/office/drawing/2014/main" id="{F22E1FD7-6250-4118-B0C6-C8791381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667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Explain how one drawing requirement would be traced through a WMS step, control and inspection record.</a:t>
            </a:r>
          </a:p>
        </p:txBody>
      </p:sp>
      <p:sp>
        <p:nvSpPr>
          <p:cNvPr id="7" name="response-model-panel">
            <a:extLst xmlns:a="http://schemas.openxmlformats.org/drawingml/2006/main">
              <a:ext uri="{FF2B5EF4-FFF2-40B4-BE49-F238E27FC236}">
                <a16:creationId xmlns:a16="http://schemas.microsoft.com/office/drawing/2014/main" id="{06C640CE-7116-428F-A2BF-A3333F85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33650"/>
            <a:ext cx="5600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response-model-heading">
            <a:extLst xmlns:a="http://schemas.openxmlformats.org/drawingml/2006/main">
              <a:ext uri="{FF2B5EF4-FFF2-40B4-BE49-F238E27FC236}">
                <a16:creationId xmlns:a16="http://schemas.microsoft.com/office/drawing/2014/main" id="{1A90589F-883B-409B-BD34-8AB377E1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APPROPRIATE RESPONSE EXAMPLE</a:t>
            </a:r>
          </a:p>
        </p:txBody>
      </p:sp>
      <p:sp>
        <p:nvSpPr>
          <p:cNvPr id="9" name="response-model">
            <a:extLst xmlns:a="http://schemas.openxmlformats.org/drawingml/2006/main">
              <a:ext uri="{FF2B5EF4-FFF2-40B4-BE49-F238E27FC236}">
                <a16:creationId xmlns:a16="http://schemas.microsoft.com/office/drawing/2014/main" id="{CC161034-08E1-44A7-B107-0D6ED894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38500"/>
            <a:ext cx="5048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01820"/>
                </a:solidFill>
                <a:latin typeface="Arial"/>
                <a:ea typeface="Arial"/>
                <a:cs typeface="Arial"/>
              </a:rPr>
              <a:t>A suitable response identifies the verified requirement or observation, names the evidence source, explains why the decision follows from it, and labels unresolved details as Teacher to confirm.</a:t>
            </a:r>
          </a:p>
        </p:txBody>
      </p:sp>
      <p:sp>
        <p:nvSpPr>
          <p:cNvPr id="10" name="response-action">
            <a:extLst xmlns:a="http://schemas.openxmlformats.org/drawingml/2006/main">
              <a:ext uri="{FF2B5EF4-FFF2-40B4-BE49-F238E27FC236}">
                <a16:creationId xmlns:a16="http://schemas.microsoft.com/office/drawing/2014/main" id="{C5216C7E-5CDF-4947-AFC3-275B5F6A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Complete the response online, check your evidence, then save or print it as directed.</a:t>
            </a:r>
          </a:p>
        </p:txBody>
      </p:sp>
      <p:sp>
        <p:nvSpPr>
          <p:cNvPr id="11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1BC5B29D-21F5-4FC2-9B8A-E12A80E4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BBQ and Case · Module 4</a:t>
            </a:r>
          </a:p>
        </p:txBody>
      </p:sp>
      <p:sp>
        <p:nvSpPr>
          <p:cNvPr id="12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4A056EA2-355C-4373-B48C-436C2506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165614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2026-08-16T10:43:16.8190000Z</dcterms:created>
  <dcterms:modified xsi:type="dcterms:W3CDTF">2026-08-16T10:43:16.8190000Z</dcterms:modified>
</coreProperties>
</file>